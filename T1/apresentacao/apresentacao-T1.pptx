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</p:sldIdLst>
  <p:sldSz cx="9144000" cy="5143500" type="screen16x9"/>
  <p:notesSz cx="6858000" cy="9144000"/>
  <p:embeddedFontLst>
    <p:embeddedFont>
      <p:font typeface="Albert Sans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69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- Claro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- Clar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Albert Sans"/>
              <a:buNone/>
              <a:defRPr sz="4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2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- Claro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3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3 - Claro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2 - Claro">
  <p:cSld name="BLANK_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colunas - Claro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86600"/>
            <a:ext cx="3924300" cy="3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ês colunas - Claro">
  <p:cSld name="TITLE_ONLY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2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3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vre - Claro">
  <p:cSld name="TITLE_ONLY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- Escuro">
  <p:cSld name="BLANK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subtítulo - Escuro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lbert Sans"/>
              <a:buNone/>
              <a:defRPr sz="43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bert Sans"/>
              <a:buNone/>
              <a:defRPr sz="24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- Escuro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3 - Escuro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colunas - Escuro">
  <p:cSld name="BIG_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11700" y="1432500"/>
            <a:ext cx="3924300" cy="22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ês colunas - Escuro">
  <p:cSld name="BIG_NUMBER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2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3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vre - Escuro">
  <p:cSld name="BIG_NUMBER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2 - Escuro">
  <p:cSld name="BLANK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- Claro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lbert Sans"/>
              <a:buNone/>
              <a:defRPr sz="33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1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- Escuro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lbert Sans"/>
              <a:buNone/>
              <a:defRPr sz="33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ubTitle" idx="1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pt-BR" b="1"/>
              <a:t>Movimentos do Cavalo</a:t>
            </a:r>
            <a:endParaRPr b="1"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000"/>
              <a:t>Caminho mínimo em grafo não ponderado — beecrowd 1100</a:t>
            </a:r>
            <a:endParaRPr sz="20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000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b="1" i="1"/>
              <a:t>Alunos: Karlos Eduardo Sousa Pinto - 2320262</a:t>
            </a:r>
            <a:endParaRPr sz="1400" b="1" i="1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Maria Eduarda Coutinho Angelim - 2324319</a:t>
            </a:r>
            <a:endParaRPr sz="1400" i="1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Orientador: Prof. Me. Ricardo Carubbi</a:t>
            </a:r>
            <a:endParaRPr sz="1400" i="1"/>
          </a:p>
          <a:p>
            <a:pPr marL="0" marR="146268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Disciplina: Resolução de Problemas com Grafos</a:t>
            </a:r>
            <a:endParaRPr sz="1400" i="1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Centro de Ciências Tecnológicas - CCT</a:t>
            </a:r>
            <a:endParaRPr sz="1400" i="1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Universidade de Fortaleza - UNIFOR</a:t>
            </a:r>
            <a:endParaRPr sz="14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50" b="1"/>
              <a:t>O problema</a:t>
            </a:r>
          </a:p>
          <a:p>
            <a:r>
              <a:rPr sz="1900" b="0"/>
              <a:t>beecrowd 1100 — Movimentos do Cavalo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/>
              <a:t>Objetivo: menor número de movimentos de um cavalo entre duas casas de um tabuleiro 8×8.</a:t>
            </a:r>
          </a:p>
          <a:p>
            <a:r>
              <a:rPr sz="1300"/>
              <a:t>Entrada: pares de casas, um por linha (e2 e4). A quantidade não é informada — leitura até EOF.</a:t>
            </a:r>
          </a:p>
          <a:p>
            <a:r>
              <a:rPr sz="1300"/>
              <a:t>Saída: To get from xx to yy takes n knight moves.</a:t>
            </a:r>
          </a:p>
          <a:p>
            <a:r>
              <a:rPr sz="1300"/>
              <a:t>Caso inimigo: o enunciado declara casas distintas, mas o exemplo oficial traz f6 f6 →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50" b="1"/>
              <a:t>Modelagem</a:t>
            </a:r>
          </a:p>
          <a:p>
            <a:r>
              <a:rPr sz="1900" b="0"/>
              <a:t>do tabuleiro ao grafo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 dirty="0" err="1"/>
              <a:t>Vértices</a:t>
            </a:r>
            <a:r>
              <a:rPr sz="1300" dirty="0"/>
              <a:t> (V): as 64 casas do </a:t>
            </a:r>
            <a:r>
              <a:rPr sz="1300" dirty="0" err="1"/>
              <a:t>tabuleiro</a:t>
            </a:r>
            <a:r>
              <a:rPr sz="1300" dirty="0"/>
              <a:t>.</a:t>
            </a:r>
          </a:p>
          <a:p>
            <a:r>
              <a:rPr sz="1300" dirty="0" err="1"/>
              <a:t>Arestas</a:t>
            </a:r>
            <a:r>
              <a:rPr sz="1300" dirty="0"/>
              <a:t> (E): </a:t>
            </a:r>
            <a:r>
              <a:rPr sz="1300" dirty="0" err="1"/>
              <a:t>os</a:t>
            </a:r>
            <a:r>
              <a:rPr sz="1300" dirty="0"/>
              <a:t> </a:t>
            </a:r>
            <a:r>
              <a:rPr sz="1300" dirty="0" err="1"/>
              <a:t>pulos</a:t>
            </a:r>
            <a:r>
              <a:rPr sz="1300" dirty="0"/>
              <a:t> do </a:t>
            </a:r>
            <a:r>
              <a:rPr sz="1300" dirty="0" err="1"/>
              <a:t>cavalo</a:t>
            </a:r>
            <a:r>
              <a:rPr lang="pt-BR" sz="1300" dirty="0"/>
              <a:t>:</a:t>
            </a:r>
            <a:r>
              <a:rPr sz="1300" dirty="0"/>
              <a:t> |</a:t>
            </a:r>
            <a:r>
              <a:rPr sz="1300" dirty="0" err="1"/>
              <a:t>Δcoluna</a:t>
            </a:r>
            <a:r>
              <a:rPr sz="1300" dirty="0"/>
              <a:t>| · |</a:t>
            </a:r>
            <a:r>
              <a:rPr sz="1300" dirty="0" err="1"/>
              <a:t>Δlinha</a:t>
            </a:r>
            <a:r>
              <a:rPr sz="1300" dirty="0"/>
              <a:t>| = 2.</a:t>
            </a:r>
          </a:p>
          <a:p>
            <a:r>
              <a:rPr sz="1300" dirty="0"/>
              <a:t>Tipo do </a:t>
            </a:r>
            <a:r>
              <a:rPr sz="1300" dirty="0" err="1"/>
              <a:t>grafo</a:t>
            </a:r>
            <a:r>
              <a:rPr sz="1300" dirty="0"/>
              <a:t>: </a:t>
            </a:r>
            <a:r>
              <a:rPr sz="1300" dirty="0" err="1"/>
              <a:t>não</a:t>
            </a:r>
            <a:r>
              <a:rPr sz="1300" dirty="0"/>
              <a:t> </a:t>
            </a:r>
            <a:r>
              <a:rPr sz="1300" dirty="0" err="1"/>
              <a:t>orientado</a:t>
            </a:r>
            <a:r>
              <a:rPr sz="1300" dirty="0"/>
              <a:t>, </a:t>
            </a:r>
            <a:r>
              <a:rPr sz="1300" dirty="0" err="1"/>
              <a:t>não</a:t>
            </a:r>
            <a:r>
              <a:rPr sz="1300" dirty="0"/>
              <a:t> </a:t>
            </a:r>
            <a:r>
              <a:rPr sz="1300" dirty="0" err="1"/>
              <a:t>ponderado</a:t>
            </a:r>
            <a:r>
              <a:rPr sz="1300" dirty="0"/>
              <a:t>, </a:t>
            </a:r>
            <a:r>
              <a:rPr sz="1300" dirty="0" err="1"/>
              <a:t>conexo</a:t>
            </a:r>
            <a:r>
              <a:rPr sz="1300" dirty="0"/>
              <a:t> e </a:t>
            </a:r>
            <a:r>
              <a:rPr sz="1300" dirty="0" err="1"/>
              <a:t>esparso</a:t>
            </a:r>
            <a:r>
              <a:rPr sz="1300" dirty="0"/>
              <a:t> (ρ ≈ 0,083).</a:t>
            </a:r>
          </a:p>
          <a:p>
            <a:r>
              <a:rPr sz="1300" dirty="0"/>
              <a:t>|V| = 64 e |E| = 168, </a:t>
            </a:r>
            <a:r>
              <a:rPr sz="1300" dirty="0" err="1"/>
              <a:t>conferido</a:t>
            </a:r>
            <a:r>
              <a:rPr sz="1300" dirty="0"/>
              <a:t> pela soma dos </a:t>
            </a:r>
            <a:r>
              <a:rPr sz="1300" dirty="0" err="1"/>
              <a:t>graus</a:t>
            </a:r>
            <a:r>
              <a:rPr sz="1300" dirty="0"/>
              <a:t>: 336 ÷ 2.</a:t>
            </a:r>
          </a:p>
          <a:p>
            <a:r>
              <a:rPr sz="1300" dirty="0"/>
              <a:t>Menor </a:t>
            </a:r>
            <a:r>
              <a:rPr sz="1300" dirty="0" err="1"/>
              <a:t>número</a:t>
            </a:r>
            <a:r>
              <a:rPr sz="1300" dirty="0"/>
              <a:t> de </a:t>
            </a:r>
            <a:r>
              <a:rPr sz="1300" dirty="0" err="1"/>
              <a:t>movimentos</a:t>
            </a:r>
            <a:r>
              <a:rPr sz="1300" dirty="0"/>
              <a:t> = </a:t>
            </a:r>
            <a:r>
              <a:rPr sz="1300" dirty="0" err="1"/>
              <a:t>distância</a:t>
            </a:r>
            <a:r>
              <a:rPr sz="1300" dirty="0"/>
              <a:t> no </a:t>
            </a:r>
            <a:r>
              <a:rPr sz="1300" dirty="0" err="1"/>
              <a:t>grafo</a:t>
            </a:r>
            <a:r>
              <a:rPr sz="1300" dirty="0"/>
              <a:t>.</a:t>
            </a:r>
          </a:p>
        </p:txBody>
      </p:sp>
      <p:sp>
        <p:nvSpPr>
          <p:cNvPr id="4" name="Referencia Rodape">
            <a:extLst>
              <a:ext uri="{FF2B5EF4-FFF2-40B4-BE49-F238E27FC236}">
                <a16:creationId xmlns:a16="http://schemas.microsoft.com/office/drawing/2014/main" id="{24ED1500-484A-4239-8882-4472C53D04C3}"/>
              </a:ext>
            </a:extLst>
          </p:cNvPr>
          <p:cNvSpPr txBox="1"/>
          <p:nvPr/>
        </p:nvSpPr>
        <p:spPr>
          <a:xfrm>
            <a:off x="51619" y="4722390"/>
            <a:ext cx="5125066" cy="65339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 i="1" dirty="0">
                <a:solidFill>
                  <a:srgbClr val="78909C"/>
                </a:solidFill>
              </a:rPr>
              <a:t>NICOLETTI, M. do C.; HRUSCHKA JR., E. R. Fundamentos da Teoria dos Grafos para Computação. 2. ed. São Paulo: </a:t>
            </a:r>
            <a:r>
              <a:rPr lang="pt-BR" sz="900" i="1" dirty="0" err="1">
                <a:solidFill>
                  <a:srgbClr val="78909C"/>
                </a:solidFill>
              </a:rPr>
              <a:t>Blucher</a:t>
            </a:r>
            <a:r>
              <a:rPr lang="pt-BR" sz="900" i="1" dirty="0">
                <a:solidFill>
                  <a:srgbClr val="78909C"/>
                </a:solidFill>
              </a:rPr>
              <a:t>, 2018.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50" b="1"/>
              <a:t>Representação computacional</a:t>
            </a:r>
          </a:p>
          <a:p>
            <a:r>
              <a:rPr sz="1900" b="0"/>
              <a:t>onde e como o grafo é construído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 dirty="0" err="1"/>
              <a:t>Estrutura</a:t>
            </a:r>
            <a:r>
              <a:rPr sz="1300" dirty="0"/>
              <a:t> </a:t>
            </a:r>
            <a:r>
              <a:rPr sz="1300" dirty="0" err="1"/>
              <a:t>escolhida</a:t>
            </a:r>
            <a:r>
              <a:rPr sz="1300" dirty="0"/>
              <a:t>: </a:t>
            </a:r>
            <a:r>
              <a:rPr sz="1300" dirty="0" err="1"/>
              <a:t>lista</a:t>
            </a:r>
            <a:r>
              <a:rPr sz="1300" dirty="0"/>
              <a:t> de </a:t>
            </a:r>
            <a:r>
              <a:rPr sz="1300" dirty="0" err="1"/>
              <a:t>adjacência</a:t>
            </a:r>
            <a:r>
              <a:rPr sz="1300" dirty="0"/>
              <a:t>.</a:t>
            </a:r>
          </a:p>
          <a:p>
            <a:r>
              <a:rPr sz="1300" dirty="0"/>
              <a:t>O </a:t>
            </a:r>
            <a:r>
              <a:rPr sz="1300" dirty="0" err="1"/>
              <a:t>grafo</a:t>
            </a:r>
            <a:r>
              <a:rPr sz="1300" dirty="0"/>
              <a:t> </a:t>
            </a:r>
            <a:r>
              <a:rPr sz="1300" dirty="0" err="1"/>
              <a:t>não</a:t>
            </a:r>
            <a:r>
              <a:rPr sz="1300" dirty="0"/>
              <a:t> </a:t>
            </a:r>
            <a:r>
              <a:rPr sz="1300" dirty="0" err="1"/>
              <a:t>vem</a:t>
            </a:r>
            <a:r>
              <a:rPr sz="1300" dirty="0"/>
              <a:t> da entrada: é </a:t>
            </a:r>
            <a:r>
              <a:rPr sz="1300" dirty="0" err="1"/>
              <a:t>gerado</a:t>
            </a:r>
            <a:r>
              <a:rPr sz="1300" dirty="0"/>
              <a:t> pela </a:t>
            </a:r>
            <a:r>
              <a:rPr sz="1300" dirty="0" err="1"/>
              <a:t>regra</a:t>
            </a:r>
            <a:r>
              <a:rPr sz="1300" dirty="0"/>
              <a:t> do </a:t>
            </a:r>
            <a:r>
              <a:rPr sz="1300" dirty="0" err="1"/>
              <a:t>movimento</a:t>
            </a:r>
            <a:r>
              <a:rPr sz="1300" dirty="0"/>
              <a:t>, </a:t>
            </a:r>
            <a:r>
              <a:rPr sz="1300" dirty="0" err="1"/>
              <a:t>uma</a:t>
            </a:r>
            <a:r>
              <a:rPr sz="1300" dirty="0"/>
              <a:t> </a:t>
            </a:r>
            <a:r>
              <a:rPr sz="1300" dirty="0" err="1"/>
              <a:t>única</a:t>
            </a:r>
            <a:r>
              <a:rPr sz="1300" dirty="0"/>
              <a:t> </a:t>
            </a:r>
            <a:r>
              <a:rPr sz="1300" dirty="0" err="1"/>
              <a:t>vez</a:t>
            </a:r>
            <a:r>
              <a:rPr sz="1300" dirty="0"/>
              <a:t>.</a:t>
            </a:r>
          </a:p>
          <a:p>
            <a:r>
              <a:rPr sz="1300" dirty="0"/>
              <a:t>A entrada </a:t>
            </a:r>
            <a:r>
              <a:rPr sz="1300" dirty="0" err="1"/>
              <a:t>traz</a:t>
            </a:r>
            <a:r>
              <a:rPr sz="1300" dirty="0"/>
              <a:t> </a:t>
            </a:r>
            <a:r>
              <a:rPr sz="1300" dirty="0" err="1"/>
              <a:t>apenas</a:t>
            </a:r>
            <a:r>
              <a:rPr sz="1300" dirty="0"/>
              <a:t> </a:t>
            </a:r>
            <a:r>
              <a:rPr sz="1300" dirty="0" err="1"/>
              <a:t>consultas</a:t>
            </a:r>
            <a:r>
              <a:rPr lang="pt-BR" sz="1300" dirty="0"/>
              <a:t>:</a:t>
            </a:r>
            <a:r>
              <a:rPr sz="1300" dirty="0"/>
              <a:t> um </a:t>
            </a:r>
            <a:r>
              <a:rPr sz="1300" dirty="0" err="1"/>
              <a:t>grafo</a:t>
            </a:r>
            <a:r>
              <a:rPr sz="1300" dirty="0"/>
              <a:t>, N </a:t>
            </a:r>
            <a:r>
              <a:rPr sz="1300" dirty="0" err="1"/>
              <a:t>buscas</a:t>
            </a:r>
            <a:r>
              <a:rPr sz="13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50" b="1"/>
              <a:t>A escolha do algoritmo</a:t>
            </a:r>
          </a:p>
          <a:p>
            <a:r>
              <a:rPr sz="1900" b="0"/>
              <a:t>DFS vs. BFS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 dirty="0"/>
              <a:t>Ambas </a:t>
            </a:r>
            <a:r>
              <a:rPr sz="1300" dirty="0" err="1"/>
              <a:t>testadas</a:t>
            </a:r>
            <a:r>
              <a:rPr sz="1300" dirty="0"/>
              <a:t> </a:t>
            </a:r>
            <a:r>
              <a:rPr sz="1300" dirty="0" err="1"/>
              <a:t>na</a:t>
            </a:r>
            <a:r>
              <a:rPr sz="1300" dirty="0"/>
              <a:t> </a:t>
            </a:r>
            <a:r>
              <a:rPr sz="1300" dirty="0" err="1"/>
              <a:t>instância</a:t>
            </a:r>
            <a:r>
              <a:rPr sz="1300" dirty="0"/>
              <a:t> 3×3, a </a:t>
            </a:r>
            <a:r>
              <a:rPr sz="1300" dirty="0" err="1"/>
              <a:t>partir</a:t>
            </a:r>
            <a:r>
              <a:rPr sz="1300" dirty="0"/>
              <a:t> do </a:t>
            </a:r>
            <a:r>
              <a:rPr sz="1300" dirty="0" err="1"/>
              <a:t>mesmo</a:t>
            </a:r>
            <a:r>
              <a:rPr sz="1300" dirty="0"/>
              <a:t> </a:t>
            </a:r>
            <a:r>
              <a:rPr sz="1300" dirty="0" err="1"/>
              <a:t>vértice</a:t>
            </a:r>
            <a:r>
              <a:rPr sz="1300" dirty="0"/>
              <a:t> de </a:t>
            </a:r>
            <a:r>
              <a:rPr sz="1300" dirty="0" err="1"/>
              <a:t>origem</a:t>
            </a:r>
            <a:r>
              <a:rPr sz="1300" dirty="0"/>
              <a:t>.</a:t>
            </a:r>
          </a:p>
          <a:p>
            <a:r>
              <a:rPr sz="1300" dirty="0"/>
              <a:t>DFS </a:t>
            </a:r>
            <a:r>
              <a:rPr sz="1300" dirty="0" err="1"/>
              <a:t>alcança</a:t>
            </a:r>
            <a:r>
              <a:rPr sz="1300" dirty="0"/>
              <a:t> 0 → 7 com 7 </a:t>
            </a:r>
            <a:r>
              <a:rPr sz="1300" dirty="0" err="1"/>
              <a:t>arestas</a:t>
            </a:r>
            <a:r>
              <a:rPr sz="1300" dirty="0"/>
              <a:t>, </a:t>
            </a:r>
            <a:r>
              <a:rPr sz="1300" dirty="0" err="1"/>
              <a:t>sendo</a:t>
            </a:r>
            <a:r>
              <a:rPr sz="1300" dirty="0"/>
              <a:t> </a:t>
            </a:r>
            <a:r>
              <a:rPr sz="1300" dirty="0" err="1"/>
              <a:t>eles</a:t>
            </a:r>
            <a:r>
              <a:rPr sz="1300" dirty="0"/>
              <a:t> </a:t>
            </a:r>
            <a:r>
              <a:rPr sz="1300" dirty="0" err="1"/>
              <a:t>vizinhos</a:t>
            </a:r>
            <a:r>
              <a:rPr sz="1300" dirty="0"/>
              <a:t> </a:t>
            </a:r>
            <a:r>
              <a:rPr sz="1300" dirty="0" err="1"/>
              <a:t>diretos</a:t>
            </a:r>
            <a:r>
              <a:rPr sz="1300" dirty="0"/>
              <a:t>: </a:t>
            </a:r>
            <a:r>
              <a:rPr sz="1300" dirty="0" err="1"/>
              <a:t>não</a:t>
            </a:r>
            <a:r>
              <a:rPr sz="1300" dirty="0"/>
              <a:t> </a:t>
            </a:r>
            <a:r>
              <a:rPr sz="1300" dirty="0" err="1"/>
              <a:t>garante</a:t>
            </a:r>
            <a:r>
              <a:rPr sz="1300" dirty="0"/>
              <a:t> o </a:t>
            </a:r>
            <a:r>
              <a:rPr sz="1300" dirty="0" err="1"/>
              <a:t>mínimo</a:t>
            </a:r>
            <a:r>
              <a:rPr sz="1300" dirty="0"/>
              <a:t>.</a:t>
            </a:r>
          </a:p>
          <a:p>
            <a:r>
              <a:rPr sz="1300" dirty="0"/>
              <a:t>A </a:t>
            </a:r>
            <a:r>
              <a:rPr sz="1300" dirty="0" err="1"/>
              <a:t>árvore</a:t>
            </a:r>
            <a:r>
              <a:rPr sz="1300" dirty="0"/>
              <a:t> da DFS </a:t>
            </a:r>
            <a:r>
              <a:rPr sz="1300" dirty="0" err="1"/>
              <a:t>muda</a:t>
            </a:r>
            <a:r>
              <a:rPr sz="1300" dirty="0"/>
              <a:t> com a </a:t>
            </a:r>
            <a:r>
              <a:rPr sz="1300" dirty="0" err="1"/>
              <a:t>ordem</a:t>
            </a:r>
            <a:r>
              <a:rPr sz="1300" dirty="0"/>
              <a:t> da </a:t>
            </a:r>
            <a:r>
              <a:rPr sz="1300" dirty="0" err="1"/>
              <a:t>lista</a:t>
            </a:r>
            <a:r>
              <a:rPr sz="1300" dirty="0"/>
              <a:t> de </a:t>
            </a:r>
            <a:r>
              <a:rPr sz="1300" dirty="0" err="1"/>
              <a:t>adjacência</a:t>
            </a:r>
            <a:r>
              <a:rPr sz="1300" dirty="0"/>
              <a:t>; </a:t>
            </a:r>
            <a:r>
              <a:rPr sz="1300" dirty="0" err="1"/>
              <a:t>os</a:t>
            </a:r>
            <a:r>
              <a:rPr sz="1300" dirty="0"/>
              <a:t> </a:t>
            </a:r>
            <a:r>
              <a:rPr sz="1300" dirty="0" err="1"/>
              <a:t>níveis</a:t>
            </a:r>
            <a:r>
              <a:rPr sz="1300" dirty="0"/>
              <a:t> da BFS </a:t>
            </a:r>
            <a:r>
              <a:rPr sz="1300" dirty="0" err="1"/>
              <a:t>não</a:t>
            </a:r>
            <a:r>
              <a:rPr sz="1300" dirty="0"/>
              <a:t>.</a:t>
            </a:r>
          </a:p>
          <a:p>
            <a:r>
              <a:rPr sz="1300" dirty="0" err="1"/>
              <a:t>Escolha</a:t>
            </a:r>
            <a:r>
              <a:rPr sz="1300" dirty="0"/>
              <a:t> final: BFS — a </a:t>
            </a:r>
            <a:r>
              <a:rPr sz="1300" dirty="0" err="1"/>
              <a:t>primeira</a:t>
            </a:r>
            <a:r>
              <a:rPr sz="1300" dirty="0"/>
              <a:t> </a:t>
            </a:r>
            <a:r>
              <a:rPr sz="1300" dirty="0" err="1"/>
              <a:t>chegada</a:t>
            </a:r>
            <a:r>
              <a:rPr sz="1300" dirty="0"/>
              <a:t> é a </a:t>
            </a:r>
            <a:r>
              <a:rPr sz="1300" dirty="0" err="1"/>
              <a:t>chegada</a:t>
            </a:r>
            <a:r>
              <a:rPr sz="1300" dirty="0"/>
              <a:t> </a:t>
            </a:r>
            <a:r>
              <a:rPr sz="1300" dirty="0" err="1"/>
              <a:t>mínima</a:t>
            </a:r>
            <a:r>
              <a:rPr sz="1300" dirty="0"/>
              <a:t>.</a:t>
            </a:r>
          </a:p>
          <a:p>
            <a:r>
              <a:rPr sz="1300" dirty="0" err="1"/>
              <a:t>Adaptação</a:t>
            </a:r>
            <a:r>
              <a:rPr sz="1300" dirty="0"/>
              <a:t>: </a:t>
            </a:r>
            <a:r>
              <a:rPr sz="1300" dirty="0" err="1"/>
              <a:t>vetor</a:t>
            </a:r>
            <a:r>
              <a:rPr sz="1300" dirty="0"/>
              <a:t> </a:t>
            </a:r>
            <a:r>
              <a:rPr sz="1300" dirty="0" err="1"/>
              <a:t>dist_to</a:t>
            </a:r>
            <a:r>
              <a:rPr sz="1300" dirty="0"/>
              <a:t> </a:t>
            </a:r>
            <a:r>
              <a:rPr sz="1300" dirty="0" err="1"/>
              <a:t>acrescentado</a:t>
            </a:r>
            <a:r>
              <a:rPr sz="1300" dirty="0"/>
              <a:t> </a:t>
            </a:r>
            <a:r>
              <a:rPr sz="1300" dirty="0" err="1"/>
              <a:t>ao</a:t>
            </a:r>
            <a:r>
              <a:rPr sz="1300" dirty="0"/>
              <a:t> </a:t>
            </a:r>
            <a:r>
              <a:rPr sz="1300" dirty="0" err="1"/>
              <a:t>BreadthFirstPaths</a:t>
            </a:r>
            <a:r>
              <a:rPr sz="1300" dirty="0"/>
              <a:t> do algs4.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50" b="1" dirty="0" err="1"/>
              <a:t>Validação</a:t>
            </a:r>
            <a:r>
              <a:rPr sz="2850" b="1" dirty="0"/>
              <a:t> e </a:t>
            </a:r>
            <a:r>
              <a:rPr sz="2850" b="1" dirty="0" err="1"/>
              <a:t>veredito</a:t>
            </a:r>
            <a:endParaRPr sz="2850" b="1" dirty="0"/>
          </a:p>
          <a:p>
            <a:r>
              <a:rPr sz="1900" b="0" dirty="0"/>
              <a:t>testes, </a:t>
            </a:r>
            <a:r>
              <a:rPr sz="1900" b="0" dirty="0" err="1"/>
              <a:t>custo</a:t>
            </a:r>
            <a:r>
              <a:rPr sz="1900" b="0" dirty="0"/>
              <a:t> e </a:t>
            </a:r>
            <a:r>
              <a:rPr sz="1900" b="0" dirty="0" err="1"/>
              <a:t>submissão</a:t>
            </a:r>
            <a:endParaRPr sz="1900" b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 dirty="0" err="1"/>
              <a:t>Rastreio</a:t>
            </a:r>
            <a:r>
              <a:rPr sz="1300" dirty="0"/>
              <a:t> manual </a:t>
            </a:r>
            <a:r>
              <a:rPr sz="1300" dirty="0" err="1"/>
              <a:t>na</a:t>
            </a:r>
            <a:r>
              <a:rPr sz="1300" dirty="0"/>
              <a:t> </a:t>
            </a:r>
            <a:r>
              <a:rPr sz="1300" dirty="0" err="1"/>
              <a:t>instância</a:t>
            </a:r>
            <a:r>
              <a:rPr sz="1300" dirty="0"/>
              <a:t> 3×3: </a:t>
            </a:r>
            <a:r>
              <a:rPr sz="1300" dirty="0" err="1"/>
              <a:t>níveis</a:t>
            </a:r>
            <a:r>
              <a:rPr sz="1300" dirty="0"/>
              <a:t>, </a:t>
            </a:r>
            <a:r>
              <a:rPr sz="1300" dirty="0" err="1"/>
              <a:t>distâncias</a:t>
            </a:r>
            <a:r>
              <a:rPr sz="1300" dirty="0"/>
              <a:t> e </a:t>
            </a:r>
            <a:r>
              <a:rPr sz="1300" dirty="0" err="1"/>
              <a:t>predecessores</a:t>
            </a:r>
            <a:r>
              <a:rPr sz="1300" dirty="0"/>
              <a:t>.</a:t>
            </a:r>
          </a:p>
          <a:p>
            <a:r>
              <a:rPr sz="1300" dirty="0" err="1"/>
              <a:t>Os</a:t>
            </a:r>
            <a:r>
              <a:rPr sz="1300" dirty="0"/>
              <a:t> 8 </a:t>
            </a:r>
            <a:r>
              <a:rPr sz="1300" dirty="0" err="1"/>
              <a:t>casos</a:t>
            </a:r>
            <a:r>
              <a:rPr sz="1300" dirty="0"/>
              <a:t> do </a:t>
            </a:r>
            <a:r>
              <a:rPr sz="1300" dirty="0" err="1"/>
              <a:t>exemplo</a:t>
            </a:r>
            <a:r>
              <a:rPr sz="1300" dirty="0"/>
              <a:t> </a:t>
            </a:r>
            <a:r>
              <a:rPr sz="1300" dirty="0" err="1"/>
              <a:t>oficial</a:t>
            </a:r>
            <a:r>
              <a:rPr sz="1300" dirty="0"/>
              <a:t> </a:t>
            </a:r>
            <a:r>
              <a:rPr sz="1300" dirty="0" err="1"/>
              <a:t>reproduzidos</a:t>
            </a:r>
            <a:r>
              <a:rPr sz="1300" dirty="0"/>
              <a:t>; </a:t>
            </a:r>
            <a:r>
              <a:rPr sz="1300" dirty="0" err="1"/>
              <a:t>casos</a:t>
            </a:r>
            <a:r>
              <a:rPr sz="1300" dirty="0"/>
              <a:t> </a:t>
            </a:r>
            <a:r>
              <a:rPr sz="1300" dirty="0" err="1"/>
              <a:t>extremos</a:t>
            </a:r>
            <a:r>
              <a:rPr sz="1300" dirty="0"/>
              <a:t> </a:t>
            </a:r>
            <a:r>
              <a:rPr sz="1300" dirty="0" err="1"/>
              <a:t>verificados</a:t>
            </a:r>
            <a:r>
              <a:rPr sz="1300" dirty="0"/>
              <a:t>.</a:t>
            </a:r>
          </a:p>
          <a:p>
            <a:r>
              <a:rPr sz="1300" dirty="0" err="1"/>
              <a:t>Complexidade</a:t>
            </a:r>
            <a:r>
              <a:rPr sz="1300" dirty="0"/>
              <a:t>: O(V + E) </a:t>
            </a:r>
            <a:r>
              <a:rPr sz="1300" dirty="0" err="1"/>
              <a:t>por</a:t>
            </a:r>
            <a:r>
              <a:rPr sz="1300" dirty="0"/>
              <a:t> consulta, com a </a:t>
            </a:r>
            <a:r>
              <a:rPr sz="1300" dirty="0" err="1"/>
              <a:t>construção</a:t>
            </a:r>
            <a:r>
              <a:rPr sz="1300" dirty="0"/>
              <a:t> </a:t>
            </a:r>
            <a:r>
              <a:rPr sz="1300" dirty="0" err="1"/>
              <a:t>executada</a:t>
            </a:r>
            <a:r>
              <a:rPr sz="1300" dirty="0"/>
              <a:t> </a:t>
            </a:r>
            <a:r>
              <a:rPr sz="1300" dirty="0" err="1"/>
              <a:t>uma</a:t>
            </a:r>
            <a:r>
              <a:rPr sz="1300" dirty="0"/>
              <a:t> </a:t>
            </a:r>
            <a:r>
              <a:rPr sz="1300" dirty="0" err="1"/>
              <a:t>única</a:t>
            </a:r>
            <a:r>
              <a:rPr sz="1300" dirty="0"/>
              <a:t> </a:t>
            </a:r>
            <a:r>
              <a:rPr sz="1300" dirty="0" err="1"/>
              <a:t>vez</a:t>
            </a:r>
            <a:r>
              <a:rPr sz="1300" dirty="0"/>
              <a:t>.</a:t>
            </a:r>
          </a:p>
          <a:p>
            <a:r>
              <a:rPr sz="1300" dirty="0" err="1"/>
              <a:t>Veredito</a:t>
            </a:r>
            <a:r>
              <a:rPr sz="1300" dirty="0"/>
              <a:t>: Accepted no </a:t>
            </a:r>
            <a:r>
              <a:rPr sz="1300" dirty="0" err="1"/>
              <a:t>beecrowd</a:t>
            </a:r>
            <a:endParaRPr sz="1300" dirty="0"/>
          </a:p>
        </p:txBody>
      </p:sp>
      <p:pic>
        <p:nvPicPr>
          <p:cNvPr id="4" name="Picture 3" descr="accep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429000"/>
            <a:ext cx="4754880" cy="1381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8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6D0FA4-D9DB-4037-A454-30C4711BF03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98ff19c6-7c6d-4d7b-a798-c729149233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435</Words>
  <Application>Microsoft Office PowerPoint</Application>
  <PresentationFormat>Apresentação na tela (16:9)</PresentationFormat>
  <Paragraphs>41</Paragraphs>
  <Slides>8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Albert Sans</vt:lpstr>
      <vt:lpstr>Unifor</vt:lpstr>
      <vt:lpstr>Apresentação do PowerPoint</vt:lpstr>
      <vt:lpstr>Movimentos do Cavalo</vt:lpstr>
      <vt:lpstr>O problema beecrowd 1100 — Movimentos do Cavalo</vt:lpstr>
      <vt:lpstr>Modelagem do tabuleiro ao grafo</vt:lpstr>
      <vt:lpstr>Representação computacional onde e como o grafo é construído</vt:lpstr>
      <vt:lpstr>A escolha do algoritmo DFS vs. BFS</vt:lpstr>
      <vt:lpstr>Validação e veredito testes, custo e submissão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</cp:revision>
  <dcterms:modified xsi:type="dcterms:W3CDTF">2026-09-10T17:55:27Z</dcterms:modified>
</cp:coreProperties>
</file>